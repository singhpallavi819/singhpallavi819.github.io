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143000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38328"/>
            <a:ext cx="28575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91C1C"/>
                </a:solidFill>
              </a:rPr>
              <a:t>$4.88M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76072"/>
            <a:ext cx="2857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AVG BREACH COST 2024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18688" y="363931"/>
            <a:ext cx="9144" cy="33284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23260" y="338328"/>
            <a:ext cx="28575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91C1C"/>
                </a:solidFill>
              </a:rPr>
              <a:t>258 days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23260" y="576072"/>
            <a:ext cx="2857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AVG TO IDENTIFY + CONTAIN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076188" y="363931"/>
            <a:ext cx="9144" cy="33284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338328"/>
            <a:ext cx="28575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91C1C"/>
                </a:solidFill>
              </a:rPr>
              <a:t>70%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0760" y="576072"/>
            <a:ext cx="2857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REPORT MAJOR DISRUPTION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933688" y="363931"/>
            <a:ext cx="9144" cy="33284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38260" y="338328"/>
            <a:ext cx="28575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91C1C"/>
                </a:solidFill>
              </a:rPr>
              <a:t>60%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938260" y="576072"/>
            <a:ext cx="2857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SMBS CLOSE IN 6 MONTHS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859536"/>
            <a:ext cx="5463540" cy="274320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14066" y="941832"/>
            <a:ext cx="82296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3794" y="859536"/>
            <a:ext cx="2731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</a:rPr>
              <a:t>Before a Breach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32220" y="859536"/>
            <a:ext cx="5463540" cy="274320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80526" y="941832"/>
            <a:ext cx="82296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90254" y="859536"/>
            <a:ext cx="2731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</a:rPr>
              <a:t>After a Breach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76188" y="1207008"/>
            <a:ext cx="9144" cy="4846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79592" y="270205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9592" y="27020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" y="1207008"/>
            <a:ext cx="5463540" cy="1143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1207008"/>
            <a:ext cx="54864" cy="1143000"/>
          </a:xfrm>
          <a:prstGeom prst="roundRect">
            <a:avLst>
              <a:gd name="adj" fmla="val 8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92" y="1207008"/>
            <a:ext cx="36576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15484" y="1307592"/>
            <a:ext cx="685800" cy="18288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5484" y="130759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</a:rPr>
              <a:t>Stable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8640" y="1280160"/>
            <a:ext cx="43754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CUSTOMER TRUST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1444752"/>
            <a:ext cx="5152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</a:rPr>
              <a:t>95%+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8640" y="1700784"/>
            <a:ext cx="51526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average brand retention rate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1856232"/>
            <a:ext cx="5152644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1920240"/>
            <a:ext cx="51526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Customers engage, return, and refer. Brand reputation is an asset, not a liability.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2441448"/>
            <a:ext cx="5463540" cy="1143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2441448"/>
            <a:ext cx="54864" cy="1143000"/>
          </a:xfrm>
          <a:prstGeom prst="roundRect">
            <a:avLst>
              <a:gd name="adj" fmla="val 8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3192" y="2441448"/>
            <a:ext cx="36576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15484" y="2542032"/>
            <a:ext cx="685800" cy="18288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15484" y="25420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</a:rPr>
              <a:t>Normal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48640" y="2514600"/>
            <a:ext cx="43754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STOCK PERFORMANCE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2679192"/>
            <a:ext cx="5152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</a:rPr>
              <a:t>On Track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48640" y="2935224"/>
            <a:ext cx="51526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market-aligned growth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8640" y="3090672"/>
            <a:ext cx="5152644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154680"/>
            <a:ext cx="51526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Share price tracks sector benchmarks. No extraordinary reserves or legal liabilities on the balance sheet.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5760" y="3675888"/>
            <a:ext cx="5463540" cy="1143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3675888"/>
            <a:ext cx="54864" cy="1143000"/>
          </a:xfrm>
          <a:prstGeom prst="roundRect">
            <a:avLst>
              <a:gd name="adj" fmla="val 8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93192" y="3675888"/>
            <a:ext cx="36576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02352" y="3776472"/>
            <a:ext cx="598932" cy="18288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02352" y="3776472"/>
            <a:ext cx="5989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</a:rPr>
              <a:t>Clear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48640" y="3749040"/>
            <a:ext cx="4462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REGULATORY STANDING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48640" y="3913632"/>
            <a:ext cx="5152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</a:rPr>
              <a:t>Compliant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548640" y="4169664"/>
            <a:ext cx="51526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no active investigations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48640" y="4325112"/>
            <a:ext cx="5152644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4389120"/>
            <a:ext cx="51526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No mandatory breach notifications. GDPR, CCPA, and sector obligations met through standard processes.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65760" y="4910328"/>
            <a:ext cx="5463540" cy="1143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5760" y="4910328"/>
            <a:ext cx="54864" cy="1143000"/>
          </a:xfrm>
          <a:prstGeom prst="roundRect">
            <a:avLst>
              <a:gd name="adj" fmla="val 8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93192" y="4910328"/>
            <a:ext cx="36576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28616" y="5010912"/>
            <a:ext cx="772668" cy="18288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28616" y="5010912"/>
            <a:ext cx="7726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</a:rPr>
              <a:t>Running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48640" y="4983480"/>
            <a:ext cx="4288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OPERATIONAL CONTINUITY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48640" y="5148072"/>
            <a:ext cx="5152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</a:rPr>
              <a:t>100%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548640" y="5404104"/>
            <a:ext cx="51526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systems fully operational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48640" y="5559552"/>
            <a:ext cx="5152644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" y="5623560"/>
            <a:ext cx="51526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All systems online. Security budget allocated to planned improvements — not emergency response.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332220" y="1207008"/>
            <a:ext cx="5463540" cy="1143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32220" y="1207008"/>
            <a:ext cx="54864" cy="1143000"/>
          </a:xfrm>
          <a:prstGeom prst="roundRect">
            <a:avLst>
              <a:gd name="adj" fmla="val 8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59652" y="1207008"/>
            <a:ext cx="36576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661904" y="1307592"/>
            <a:ext cx="1005840" cy="18288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661904" y="13075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91C1C"/>
                </a:solidFill>
              </a:rPr>
              <a:t>Record High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515100" y="1280160"/>
            <a:ext cx="40553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FINANCIAL IMPACT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515100" y="1444752"/>
            <a:ext cx="5152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$4.88M</a:t>
            </a:r>
            <a:endParaRPr lang="en-US" sz="2200" dirty="0"/>
          </a:p>
        </p:txBody>
      </p:sp>
      <p:sp>
        <p:nvSpPr>
          <p:cNvPr id="70" name="Text 68"/>
          <p:cNvSpPr/>
          <p:nvPr/>
        </p:nvSpPr>
        <p:spPr>
          <a:xfrm>
            <a:off x="6515100" y="1700784"/>
            <a:ext cx="51526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global average per breach — 2024 record high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515100" y="1856232"/>
            <a:ext cx="5152644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15100" y="1920240"/>
            <a:ext cx="51526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Covers forensics, legal fees, customer notification, regulatory fines, and lost business — up 10% year-over-year.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6332220" y="2441448"/>
            <a:ext cx="5463540" cy="1143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332220" y="2441448"/>
            <a:ext cx="54864" cy="1143000"/>
          </a:xfrm>
          <a:prstGeom prst="roundRect">
            <a:avLst>
              <a:gd name="adj" fmla="val 8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359652" y="2441448"/>
            <a:ext cx="36576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721340" y="2542032"/>
            <a:ext cx="946404" cy="18288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721340" y="2542032"/>
            <a:ext cx="9464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91C1C"/>
                </a:solidFill>
              </a:rPr>
              <a:t>8+ Months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515100" y="25146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TIME TO DETECT + CONTAIN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515100" y="2679192"/>
            <a:ext cx="5152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258 days</a:t>
            </a:r>
            <a:endParaRPr lang="en-US" sz="2200" dirty="0"/>
          </a:p>
        </p:txBody>
      </p:sp>
      <p:sp>
        <p:nvSpPr>
          <p:cNvPr id="80" name="Text 78"/>
          <p:cNvSpPr/>
          <p:nvPr/>
        </p:nvSpPr>
        <p:spPr>
          <a:xfrm>
            <a:off x="6515100" y="2935224"/>
            <a:ext cx="51526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194 to identify · 64 to contain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515100" y="3090672"/>
            <a:ext cx="5152644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515100" y="3154680"/>
            <a:ext cx="51526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Attackers operate undetected inside networks for over 6 months on average. Credential breaches take up to 292 days.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6332220" y="3675888"/>
            <a:ext cx="5463540" cy="1143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332220" y="3675888"/>
            <a:ext cx="54864" cy="1143000"/>
          </a:xfrm>
          <a:prstGeom prst="roundRect">
            <a:avLst>
              <a:gd name="adj" fmla="val 8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359652" y="3675888"/>
            <a:ext cx="36576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661904" y="3776472"/>
            <a:ext cx="1005840" cy="182880"/>
          </a:xfrm>
          <a:prstGeom prst="roundRect">
            <a:avLst>
              <a:gd name="adj" fmla="val 1500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661904" y="37764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309"/>
                </a:solidFill>
              </a:rPr>
              <a:t>Long-term Drag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6515100" y="3749040"/>
            <a:ext cx="40553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STOCK PRICE IMPACT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6515100" y="3913632"/>
            <a:ext cx="5152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−15.6%</a:t>
            </a:r>
            <a:endParaRPr lang="en-US" sz="2200" dirty="0"/>
          </a:p>
        </p:txBody>
      </p:sp>
      <p:sp>
        <p:nvSpPr>
          <p:cNvPr id="90" name="Text 88"/>
          <p:cNvSpPr/>
          <p:nvPr/>
        </p:nvSpPr>
        <p:spPr>
          <a:xfrm>
            <a:off x="6515100" y="4169664"/>
            <a:ext cx="51526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vs market index over 3 years post-breach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6515100" y="4325112"/>
            <a:ext cx="5152644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515100" y="4389120"/>
            <a:ext cx="51526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Initial drop of ~7.5% within days of disclosure. Shares continue to underperform for up to 3 years.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6332220" y="4910328"/>
            <a:ext cx="5463540" cy="1143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332220" y="4910328"/>
            <a:ext cx="54864" cy="1143000"/>
          </a:xfrm>
          <a:prstGeom prst="roundRect">
            <a:avLst>
              <a:gd name="adj" fmla="val 8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359652" y="4910328"/>
            <a:ext cx="36576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808208" y="5010912"/>
            <a:ext cx="859536" cy="18288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0808208" y="5010912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91C1C"/>
                </a:solidFill>
              </a:rPr>
              <a:t>Critical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6515100" y="4983480"/>
            <a:ext cx="42016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CUSTOMER LOSS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6515100" y="5148072"/>
            <a:ext cx="5152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81%</a:t>
            </a:r>
            <a:endParaRPr lang="en-US" sz="2200" dirty="0"/>
          </a:p>
        </p:txBody>
      </p:sp>
      <p:sp>
        <p:nvSpPr>
          <p:cNvPr id="100" name="Text 98"/>
          <p:cNvSpPr/>
          <p:nvPr/>
        </p:nvSpPr>
        <p:spPr>
          <a:xfrm>
            <a:off x="6515100" y="5404104"/>
            <a:ext cx="51526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stop engaging with the brand entirely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6515100" y="5559552"/>
            <a:ext cx="5152644" cy="731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515100" y="5623560"/>
            <a:ext cx="51526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25% won't consider the brand again. Customer re-acquisition costs spike sharply in the year following disclosure.</a:t>
            </a:r>
            <a:endParaRPr lang="en-US" sz="1050" dirty="0"/>
          </a:p>
        </p:txBody>
      </p:sp>
      <p:sp>
        <p:nvSpPr>
          <p:cNvPr id="103" name="Shape 101"/>
          <p:cNvSpPr/>
          <p:nvPr/>
        </p:nvSpPr>
        <p:spPr>
          <a:xfrm>
            <a:off x="365760" y="6126480"/>
            <a:ext cx="11430000" cy="438912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65760" y="6172200"/>
            <a:ext cx="54864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30352" y="6126480"/>
            <a:ext cx="11201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0000"/>
                </a:solidFill>
              </a:rPr>
              <a:t>The math is clear: </a:t>
            </a:r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</a:rPr>
              <a:t>the average breach costs $4.88M, takes 258 days to contain, drops stock by 15.6% over 3 years, and drives away 81% of customers — yet the cost of preventing it through automated scanning is a fraction of that.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2026-08-03T14:23:50Z</dcterms:created>
  <dcterms:modified xsi:type="dcterms:W3CDTF">2026-08-03T14:23:50Z</dcterms:modified>
</cp:coreProperties>
</file>